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sldIdLst>
    <p:sldId id="264" r:id="rId6"/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7048C-728C-0031-290E-B5360D73D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E66C2-9F1E-0DF0-D769-4D44A6560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8E0D1-FD2B-AE97-9FD5-45C2D6845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E1920-7EB3-4BBD-19B6-2EACB7E43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3A095-ABFB-3256-7E22-9BD3171A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05115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F6F15-3587-A39B-05C6-79B02C11B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523F8-18E7-D428-641B-9C7A43CD1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06992-30A0-6D6E-0E21-9EF34BAB9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A49F0-CEBA-FCC7-1E50-92BDC41DB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B745A-6A2E-2024-C8C2-C87D46FC6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976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09ECD-9991-7BC2-6E17-DD0251B92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8F520-2F44-8BEC-CF7E-A5E7CA2A4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622CE-7746-0733-753C-B6D9B5CB1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190D1-15EF-464B-0213-FE3CB71B0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A437A1-8B72-49E2-C26D-2B147300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47112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FE08E-75C8-A21F-F3C6-5706E7C4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C9479-A8F1-F0F1-B18A-378F29525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5714F-72EF-34B3-D7E9-0E90978A2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ED7AB-44AB-2391-8219-976E16B61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23/5/2026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E511F7-8456-BDDC-182D-1E5E0BB48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9882E6-87F3-A3AC-9BC4-047B8075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2168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669B0-3ACB-594E-842D-7EA3CE66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6804-BC2B-9474-B208-DEDE78EF6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97DF70-CA4D-9B26-975D-C38340548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FFBAD9-363D-F53A-6610-0802F0200D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4B3B2-E773-F449-5E5A-1354DB33F4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F8CA1A-9378-3519-8495-430061F71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23/5/2026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7937FC-0B1E-35E2-79E9-1805D5EE3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F1296B-FF5B-1193-6F4D-23A893F2C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091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A2DA-759A-42A3-1B1E-52D1F1FCA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78549-7C55-08A5-09B5-AB4FA89FD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23/5/2026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C68F72-8E2D-4F6D-BC0B-E34074368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4C480-6092-9D52-2E63-5FB90DB72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0716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CCF4A-E80F-7816-44D9-587E0DA6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23/5/2026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EF5A62-68F3-8227-BD18-C06A080F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3A790-C462-8E45-A54A-08E8EE057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22381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EF034-3064-8C36-7CE3-1CFA09AE4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0AD47-20DD-0C7D-1D3F-A03E67050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D1515F-9C12-48CA-BE86-86EF67016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167025-8AC2-4F00-407A-20051C525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23/5/2026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416AD-A912-BE78-E6A8-B2B20B3D1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9D902-279E-06FF-29C1-55AD40B47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94286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3CF3E-335D-DBBD-E3D3-54F5EC319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EDCF8A-9BE8-161F-4049-6D14EC50BB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CD542-1659-275B-4B60-E291E0D74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3B59E0-D4E0-7E10-A5F2-A09FB7690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23/5/2026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E1472-1057-C4BB-A26E-917D4ABA4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2FA94-6ADA-24B6-66EC-70511FC24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9249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69C0A-A460-9049-2209-ECA9A770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EBC1A8-58DA-400C-8F6D-360843D820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20C78-4614-C46E-0F34-1F00A1CBB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A4AAD9-C2FF-5C93-19CD-90FF1823C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8BF4E8-0408-E7AE-DAB8-452D24F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8525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D576-DCA8-66B8-B6CC-BAA73B6AF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2C3FBF-421C-5C12-4EF1-D724DA7D34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3CFB99-9C28-3370-AE9B-B8C38D4B1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0F13F-8AC2-45C0-B2C3-81B821F58F12}" type="datetimeFigureOut">
              <a:rPr lang="en-SG" smtClean="0"/>
              <a:t>23/5/2026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D2224-6893-C112-9BF7-210CC0E54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20D2D-4ADD-2FF2-B65A-E4FF9DCFA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49290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40B223-186C-1FCE-D948-D60D9CBE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B65F3-89AD-7DD6-06CA-8DA0B2C5D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0D94E-3D75-3FDC-DC79-C621C0C92C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E0F13F-8AC2-45C0-B2C3-81B821F58F12}" type="datetimeFigureOut">
              <a:rPr lang="en-SG" smtClean="0"/>
              <a:t>23/5/2026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1101C-6288-265B-BA9D-27B4BA0AD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8BE80D-C2DD-B880-C907-58523F83D9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416258-EDBB-4FCE-BACA-A3C0B6FA0EB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9118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C57679E-3C6D-2006-B337-107DD5B073DB}"/>
              </a:ext>
            </a:extLst>
          </p:cNvPr>
          <p:cNvSpPr txBox="1"/>
          <p:nvPr/>
        </p:nvSpPr>
        <p:spPr>
          <a:xfrm>
            <a:off x="3460954" y="1840158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Work within your group to answer as many questions as you can, correctly, within the time limit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Referencing from online materials/ lecture notes are not allowed!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FB844C4-DDE9-6C64-BDD5-DEDF77B4B5AD}"/>
              </a:ext>
            </a:extLst>
          </p:cNvPr>
          <p:cNvSpPr/>
          <p:nvPr/>
        </p:nvSpPr>
        <p:spPr>
          <a:xfrm>
            <a:off x="2765912" y="1925502"/>
            <a:ext cx="367530" cy="3524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342655B-F81B-AA4C-FE19-F27362BBAFE5}"/>
              </a:ext>
            </a:extLst>
          </p:cNvPr>
          <p:cNvSpPr/>
          <p:nvPr/>
        </p:nvSpPr>
        <p:spPr>
          <a:xfrm>
            <a:off x="2765912" y="2704048"/>
            <a:ext cx="367530" cy="3524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4ECA56-1CCB-A7A2-69BA-F2137C67962F}"/>
              </a:ext>
            </a:extLst>
          </p:cNvPr>
          <p:cNvSpPr txBox="1"/>
          <p:nvPr/>
        </p:nvSpPr>
        <p:spPr>
          <a:xfrm>
            <a:off x="4404851" y="779660"/>
            <a:ext cx="38345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800" b="1" dirty="0"/>
              <a:t>Instructions</a:t>
            </a:r>
          </a:p>
        </p:txBody>
      </p:sp>
    </p:spTree>
    <p:extLst>
      <p:ext uri="{BB962C8B-B14F-4D97-AF65-F5344CB8AC3E}">
        <p14:creationId xmlns:p14="http://schemas.microsoft.com/office/powerpoint/2010/main" val="3676672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B9D3D9-7CE0-0309-E4EC-249B1C66E45A}"/>
              </a:ext>
            </a:extLst>
          </p:cNvPr>
          <p:cNvSpPr txBox="1"/>
          <p:nvPr/>
        </p:nvSpPr>
        <p:spPr>
          <a:xfrm>
            <a:off x="700163" y="1323211"/>
            <a:ext cx="385227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Sketch a graph to show the variation in pH of the resultant mixture formed from </a:t>
            </a:r>
            <a:b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Period 3 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oxides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mixed with water.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C1F0D-9003-68F7-5DC3-5B8D3363CC22}"/>
              </a:ext>
            </a:extLst>
          </p:cNvPr>
          <p:cNvSpPr txBox="1"/>
          <p:nvPr/>
        </p:nvSpPr>
        <p:spPr>
          <a:xfrm>
            <a:off x="6096001" y="1323211"/>
            <a:ext cx="494995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Write equations for the reactions (if any) of the </a:t>
            </a:r>
            <a:r>
              <a:rPr lang="en-US" sz="15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oxides:</a:t>
            </a:r>
            <a:r>
              <a:rPr lang="en-US" sz="15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Na₂O</a:t>
            </a:r>
            <a:r>
              <a:rPr lang="en-US" sz="15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MgO, A</a:t>
            </a:r>
            <a:r>
              <a:rPr lang="en-US" sz="15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₂O₃ with water and state the pH of each resultant mixture.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BCFE86-E5EF-AC06-4694-2182C4B5D16F}"/>
              </a:ext>
            </a:extLst>
          </p:cNvPr>
          <p:cNvSpPr txBox="1"/>
          <p:nvPr/>
        </p:nvSpPr>
        <p:spPr>
          <a:xfrm>
            <a:off x="6096000" y="2251755"/>
            <a:ext cx="586445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SG" sz="1500" dirty="0" err="1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(s)  +  H₂O(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 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2NaOH(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 pH = 14</a:t>
            </a:r>
            <a:endParaRPr lang="en-SG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MgO(s)  +H₂O(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⇌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Mg(OH)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(s) 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⇌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Mg(OH)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 pH = 10</a:t>
            </a:r>
            <a:endParaRPr lang="en-SG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₃ 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does not dissolve in water; pH = 7</a:t>
            </a:r>
            <a:endParaRPr lang="en-SG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B8C963-5A57-6201-0FC1-2220C3CE62CB}"/>
              </a:ext>
            </a:extLst>
          </p:cNvPr>
          <p:cNvSpPr txBox="1"/>
          <p:nvPr/>
        </p:nvSpPr>
        <p:spPr>
          <a:xfrm>
            <a:off x="6096001" y="3925801"/>
            <a:ext cx="531571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Write equations for the reactions (if any) of the </a:t>
            </a:r>
            <a:r>
              <a:rPr lang="en-US" sz="1500" b="1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oxides:</a:t>
            </a: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50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SiO</a:t>
            </a:r>
            <a:r>
              <a:rPr lang="en-US" sz="1500" dirty="0">
                <a:solidFill>
                  <a:srgbClr val="2E385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₂,</a:t>
            </a: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P</a:t>
            </a:r>
            <a:r>
              <a:rPr lang="en-US" sz="1500" dirty="0">
                <a:solidFill>
                  <a:srgbClr val="2E385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₄</a:t>
            </a: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500" dirty="0">
                <a:solidFill>
                  <a:srgbClr val="2E385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₁₀</a:t>
            </a: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SO</a:t>
            </a:r>
            <a:r>
              <a:rPr lang="en-US" sz="1500" dirty="0">
                <a:solidFill>
                  <a:srgbClr val="2E385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₃ </a:t>
            </a: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with water and state the pH of each resultant mixture.</a:t>
            </a:r>
            <a:endParaRPr lang="en-SG" sz="15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96790E-CA77-434D-7E69-7C5D5E295236}"/>
              </a:ext>
            </a:extLst>
          </p:cNvPr>
          <p:cNvSpPr txBox="1"/>
          <p:nvPr/>
        </p:nvSpPr>
        <p:spPr>
          <a:xfrm>
            <a:off x="6096000" y="4815017"/>
            <a:ext cx="547341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SiO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 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does not dissolve in water; pH = 7</a:t>
            </a:r>
            <a:endParaRPr lang="en-SG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₄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₁₀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(s)  +  6H₂O(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 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4H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₃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₄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 pH = 2</a:t>
            </a:r>
            <a:endParaRPr lang="en-SG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₃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(g)  +  H₂O(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 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H₂SO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₄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 pH = 2</a:t>
            </a:r>
            <a:endParaRPr lang="en-SG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A520BB-5C5A-C5BF-FF6D-9F829D2631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113" y="2566218"/>
            <a:ext cx="4545842" cy="329032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9F64549-0354-9082-66A2-ACB5E9F09B86}"/>
              </a:ext>
            </a:extLst>
          </p:cNvPr>
          <p:cNvCxnSpPr/>
          <p:nvPr/>
        </p:nvCxnSpPr>
        <p:spPr>
          <a:xfrm>
            <a:off x="5388077" y="766916"/>
            <a:ext cx="0" cy="5604387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A6520D-8A21-F94E-934A-40BD3627DC0C}"/>
              </a:ext>
            </a:extLst>
          </p:cNvPr>
          <p:cNvSpPr txBox="1"/>
          <p:nvPr/>
        </p:nvSpPr>
        <p:spPr>
          <a:xfrm>
            <a:off x="10166556" y="89263"/>
            <a:ext cx="20254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[Q1 Ans]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C6C72E-70E0-5E58-F078-0D51226748EA}"/>
              </a:ext>
            </a:extLst>
          </p:cNvPr>
          <p:cNvSpPr txBox="1"/>
          <p:nvPr/>
        </p:nvSpPr>
        <p:spPr>
          <a:xfrm>
            <a:off x="5417468" y="1374680"/>
            <a:ext cx="806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[A]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A8862E-4AA5-A927-01DE-D3447EB15343}"/>
              </a:ext>
            </a:extLst>
          </p:cNvPr>
          <p:cNvSpPr txBox="1"/>
          <p:nvPr/>
        </p:nvSpPr>
        <p:spPr>
          <a:xfrm>
            <a:off x="5446964" y="3870576"/>
            <a:ext cx="806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[B]</a:t>
            </a:r>
          </a:p>
        </p:txBody>
      </p:sp>
    </p:spTree>
    <p:extLst>
      <p:ext uri="{BB962C8B-B14F-4D97-AF65-F5344CB8AC3E}">
        <p14:creationId xmlns:p14="http://schemas.microsoft.com/office/powerpoint/2010/main" val="976894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B2E1F-A1A7-F214-367B-EF5F80FB7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9C171E-5967-AE7D-A47F-F5BB58E3248D}"/>
              </a:ext>
            </a:extLst>
          </p:cNvPr>
          <p:cNvSpPr txBox="1"/>
          <p:nvPr/>
        </p:nvSpPr>
        <p:spPr>
          <a:xfrm>
            <a:off x="1631633" y="1562740"/>
            <a:ext cx="914452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Write an equation for any reaction that occurs between HC</a:t>
            </a:r>
            <a:r>
              <a:rPr lang="en-US" sz="15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50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 and each </a:t>
            </a:r>
            <a:r>
              <a:rPr lang="en-US" sz="1500" b="1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oxide:</a:t>
            </a: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1500" dirty="0" err="1">
                <a:solidFill>
                  <a:srgbClr val="2E385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US" sz="150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500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 err="1">
                <a:solidFill>
                  <a:srgbClr val="2E385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US" sz="150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500" dirty="0">
                <a:solidFill>
                  <a:srgbClr val="2E385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₃, P₄O₁₀ </a:t>
            </a:r>
            <a:endParaRPr lang="en-US" sz="15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F0DB52-AC6D-FE42-37E1-42CA688EFFA5}"/>
              </a:ext>
            </a:extLst>
          </p:cNvPr>
          <p:cNvSpPr txBox="1"/>
          <p:nvPr/>
        </p:nvSpPr>
        <p:spPr>
          <a:xfrm>
            <a:off x="1631633" y="2106641"/>
            <a:ext cx="6492791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SG" sz="1500" dirty="0" err="1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(s)  +  2HC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 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2NaC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 +  H₂O(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SG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₃(s) 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+  6HC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 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2A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₃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 +  3H₂O(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SG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P₄O₁₀ does not react with HC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SG" sz="1500" dirty="0" err="1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SG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ABF648-4F49-E43D-C1E9-A6AEEB063332}"/>
              </a:ext>
            </a:extLst>
          </p:cNvPr>
          <p:cNvSpPr txBox="1"/>
          <p:nvPr/>
        </p:nvSpPr>
        <p:spPr>
          <a:xfrm>
            <a:off x="1631633" y="3881284"/>
            <a:ext cx="92231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Write an equation for any reaction that occurs between NaOH (</a:t>
            </a:r>
            <a:r>
              <a:rPr lang="en-US" sz="150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) and each </a:t>
            </a:r>
            <a:r>
              <a:rPr lang="en-US" sz="1500" b="1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oxide:</a:t>
            </a: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50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US" sz="1500" dirty="0" err="1">
                <a:solidFill>
                  <a:srgbClr val="2E385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US" sz="150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50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500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 err="1">
                <a:solidFill>
                  <a:srgbClr val="2E385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US" sz="150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sz="1500" dirty="0">
                <a:solidFill>
                  <a:srgbClr val="2E385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₃, P₄O₁₀</a:t>
            </a:r>
            <a:endParaRPr lang="en-US" sz="15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B5C134-BC0B-A92B-062B-A479BA97C903}"/>
              </a:ext>
            </a:extLst>
          </p:cNvPr>
          <p:cNvSpPr txBox="1"/>
          <p:nvPr/>
        </p:nvSpPr>
        <p:spPr>
          <a:xfrm>
            <a:off x="1631633" y="4413959"/>
            <a:ext cx="708739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</a:t>
            </a:r>
            <a:r>
              <a:rPr lang="en-SG" sz="1500" dirty="0" err="1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does not react with NaOH 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SG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₃(s) 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+  2NaOH(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)+  3H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O(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 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2Na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⁺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[A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(OH)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₄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⁻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SG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₄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₁₀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(s)  +  12NaOH(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4Na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₃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₄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 +  6H₂O(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SG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7F2C3F-3FA3-B33F-3366-77110912531E}"/>
              </a:ext>
            </a:extLst>
          </p:cNvPr>
          <p:cNvSpPr txBox="1"/>
          <p:nvPr/>
        </p:nvSpPr>
        <p:spPr>
          <a:xfrm>
            <a:off x="10166556" y="89263"/>
            <a:ext cx="20254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[Q2 Ans]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CB4FED-6833-E4F7-EFF9-7EC076DCF23C}"/>
              </a:ext>
            </a:extLst>
          </p:cNvPr>
          <p:cNvSpPr txBox="1"/>
          <p:nvPr/>
        </p:nvSpPr>
        <p:spPr>
          <a:xfrm>
            <a:off x="934064" y="1386186"/>
            <a:ext cx="806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[A]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7F1D53-5BC7-7D4D-6551-16453B14563F}"/>
              </a:ext>
            </a:extLst>
          </p:cNvPr>
          <p:cNvSpPr txBox="1"/>
          <p:nvPr/>
        </p:nvSpPr>
        <p:spPr>
          <a:xfrm>
            <a:off x="934064" y="3674142"/>
            <a:ext cx="806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[B]</a:t>
            </a:r>
          </a:p>
        </p:txBody>
      </p:sp>
    </p:spTree>
    <p:extLst>
      <p:ext uri="{BB962C8B-B14F-4D97-AF65-F5344CB8AC3E}">
        <p14:creationId xmlns:p14="http://schemas.microsoft.com/office/powerpoint/2010/main" val="2506269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C3390FE-2094-FB31-B099-55984DBB6923}"/>
              </a:ext>
            </a:extLst>
          </p:cNvPr>
          <p:cNvSpPr txBox="1"/>
          <p:nvPr/>
        </p:nvSpPr>
        <p:spPr>
          <a:xfrm>
            <a:off x="673014" y="1455820"/>
            <a:ext cx="42085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Sketch a graph to show the variation in pH of the resultant mixture formed from Period 3 </a:t>
            </a:r>
            <a:r>
              <a:rPr lang="en-US" sz="1500" b="1" dirty="0">
                <a:latin typeface="Arial" panose="020B0604020202020204" pitchFamily="34" charset="0"/>
                <a:cs typeface="Arial" panose="020B0604020202020204" pitchFamily="34" charset="0"/>
              </a:rPr>
              <a:t>chlorides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 mixed with excess water.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E51A1A-7430-F3CB-DE29-9F9120F22158}"/>
              </a:ext>
            </a:extLst>
          </p:cNvPr>
          <p:cNvSpPr txBox="1"/>
          <p:nvPr/>
        </p:nvSpPr>
        <p:spPr>
          <a:xfrm>
            <a:off x="6313970" y="1455820"/>
            <a:ext cx="587803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State the pH of the resultant mixture when the </a:t>
            </a:r>
            <a:r>
              <a:rPr lang="en-US" sz="1500" b="1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chlorides: </a:t>
            </a:r>
            <a:endParaRPr lang="en-US" sz="15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NaC</a:t>
            </a:r>
            <a:r>
              <a:rPr lang="en-US" sz="15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50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500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500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>
                <a:solidFill>
                  <a:srgbClr val="2E385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₃ are separately mixed with </a:t>
            </a:r>
            <a:r>
              <a:rPr lang="en-US" sz="1500" b="1" dirty="0">
                <a:solidFill>
                  <a:srgbClr val="2E385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excess</a:t>
            </a:r>
            <a:r>
              <a:rPr lang="en-US" sz="1500" dirty="0">
                <a:solidFill>
                  <a:srgbClr val="2E385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water.</a:t>
            </a:r>
            <a:endParaRPr lang="en-US" sz="15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Write equations to explain your answer.</a:t>
            </a:r>
            <a:endParaRPr lang="en-US" sz="15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FE93FD-AD23-21A0-D457-56BEF3525B9E}"/>
              </a:ext>
            </a:extLst>
          </p:cNvPr>
          <p:cNvSpPr txBox="1"/>
          <p:nvPr/>
        </p:nvSpPr>
        <p:spPr>
          <a:xfrm>
            <a:off x="6313970" y="2550000"/>
            <a:ext cx="579937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NaC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(s)  + 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Na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⁺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 +  C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⁻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 pH = 7</a:t>
            </a:r>
            <a:endParaRPr lang="en-SG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₃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(s)  +  6H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O(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 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[A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(H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O)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₆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³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⁺(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)+  3C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⁻(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SG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[A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(H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O)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₆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³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⁺(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 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⇌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[A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(H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O)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₅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(OH)]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²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⁺(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)+  H⁺(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 pH = 3</a:t>
            </a:r>
            <a:endParaRPr lang="en-SG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9F66BE-F49D-C10C-4EA3-554EC6E7E922}"/>
              </a:ext>
            </a:extLst>
          </p:cNvPr>
          <p:cNvSpPr txBox="1"/>
          <p:nvPr/>
        </p:nvSpPr>
        <p:spPr>
          <a:xfrm>
            <a:off x="6313970" y="3758986"/>
            <a:ext cx="572197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State the pH of the resultant mixture when the </a:t>
            </a:r>
            <a:r>
              <a:rPr lang="en-US" sz="1500" b="1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chlorides: </a:t>
            </a:r>
            <a:endParaRPr lang="en-US" sz="15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50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SiC</a:t>
            </a:r>
            <a:r>
              <a:rPr lang="en-US" sz="1500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>
                <a:solidFill>
                  <a:srgbClr val="2E385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₄</a:t>
            </a: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500" dirty="0" err="1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PC</a:t>
            </a:r>
            <a:r>
              <a:rPr lang="en-US" sz="1500" i="1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>
                <a:solidFill>
                  <a:srgbClr val="2E385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₅ are separately mixed with </a:t>
            </a:r>
            <a:r>
              <a:rPr lang="en-US" sz="1500" b="1" dirty="0">
                <a:solidFill>
                  <a:srgbClr val="2E385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excess</a:t>
            </a:r>
            <a:r>
              <a:rPr lang="en-US" sz="1500" dirty="0">
                <a:solidFill>
                  <a:srgbClr val="2E3856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water.</a:t>
            </a:r>
            <a:endParaRPr lang="en-US" sz="15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Write equations to explain your answer.</a:t>
            </a:r>
            <a:endParaRPr lang="en-US" sz="15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5B8AC6-2A5F-B5F6-4974-A25BDF144CF4}"/>
              </a:ext>
            </a:extLst>
          </p:cNvPr>
          <p:cNvSpPr txBox="1"/>
          <p:nvPr/>
        </p:nvSpPr>
        <p:spPr>
          <a:xfrm>
            <a:off x="6313970" y="4835160"/>
            <a:ext cx="54159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SiC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₄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 +  2H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O(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 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SiO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(s)  +  4HC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 pH = 2</a:t>
            </a:r>
            <a:endParaRPr lang="en-SG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PC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₅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(s)  +  4H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₂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O(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 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H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₃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</a:t>
            </a:r>
            <a:r>
              <a:rPr lang="en-SG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₄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  +  5HC</a:t>
            </a:r>
            <a:r>
              <a:rPr 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SG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aq</a:t>
            </a:r>
            <a:r>
              <a:rPr lang="en-SG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); pH = 2</a:t>
            </a:r>
            <a:endParaRPr lang="en-SG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359BD7A-E071-9465-02B2-48377303F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16" y="2550000"/>
            <a:ext cx="4208560" cy="320280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74B459-5BF3-4F93-A28A-706BC026E33C}"/>
              </a:ext>
            </a:extLst>
          </p:cNvPr>
          <p:cNvCxnSpPr/>
          <p:nvPr/>
        </p:nvCxnSpPr>
        <p:spPr>
          <a:xfrm>
            <a:off x="5388077" y="766916"/>
            <a:ext cx="0" cy="5604387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C291C24-E884-E952-33EC-FFAB47D66BC0}"/>
              </a:ext>
            </a:extLst>
          </p:cNvPr>
          <p:cNvSpPr txBox="1"/>
          <p:nvPr/>
        </p:nvSpPr>
        <p:spPr>
          <a:xfrm>
            <a:off x="10166556" y="89263"/>
            <a:ext cx="20254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[Q3 Ans]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AE0BB2-F9AB-2F31-AE22-F6C6686914AF}"/>
              </a:ext>
            </a:extLst>
          </p:cNvPr>
          <p:cNvSpPr txBox="1"/>
          <p:nvPr/>
        </p:nvSpPr>
        <p:spPr>
          <a:xfrm>
            <a:off x="5567072" y="1536680"/>
            <a:ext cx="806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[A]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825F4F-86F3-0DEA-26BE-20CA7D563B89}"/>
              </a:ext>
            </a:extLst>
          </p:cNvPr>
          <p:cNvSpPr txBox="1"/>
          <p:nvPr/>
        </p:nvSpPr>
        <p:spPr>
          <a:xfrm>
            <a:off x="5596568" y="3770168"/>
            <a:ext cx="806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[B]</a:t>
            </a:r>
          </a:p>
        </p:txBody>
      </p:sp>
    </p:spTree>
    <p:extLst>
      <p:ext uri="{BB962C8B-B14F-4D97-AF65-F5344CB8AC3E}">
        <p14:creationId xmlns:p14="http://schemas.microsoft.com/office/powerpoint/2010/main" val="2398950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E5713-7529-0E1F-60E4-264D84858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2C8B419C-C43F-19B9-B4D9-30508AE6D067}"/>
              </a:ext>
            </a:extLst>
          </p:cNvPr>
          <p:cNvSpPr txBox="1"/>
          <p:nvPr/>
        </p:nvSpPr>
        <p:spPr>
          <a:xfrm>
            <a:off x="673014" y="1455820"/>
            <a:ext cx="384696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Explain why 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MgCO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₃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decomposes at a lower temperature than 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BaCO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16FF0A-C888-30BC-6F7C-0ECDB74AEA28}"/>
              </a:ext>
            </a:extLst>
          </p:cNvPr>
          <p:cNvSpPr txBox="1"/>
          <p:nvPr/>
        </p:nvSpPr>
        <p:spPr>
          <a:xfrm>
            <a:off x="6313970" y="1455820"/>
            <a:ext cx="587803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State whether the following hydrogen halides decompose upon heating. (HF, HC</a:t>
            </a:r>
            <a:r>
              <a:rPr lang="en-US" sz="1500" i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, HBr, HI)</a:t>
            </a:r>
            <a:endParaRPr lang="en-US" sz="15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Write equations to describe any thermal decomposition</a:t>
            </a:r>
            <a:endParaRPr lang="en-US" sz="15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C8DB54-6B15-A6BE-21EF-9C95336C90C4}"/>
              </a:ext>
            </a:extLst>
          </p:cNvPr>
          <p:cNvSpPr txBox="1"/>
          <p:nvPr/>
        </p:nvSpPr>
        <p:spPr>
          <a:xfrm>
            <a:off x="6313970" y="2283406"/>
            <a:ext cx="446218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HF: does not decompose on heating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HCl: does not decompose on heating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HBr: decompose slightly when heated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2HBr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⇌ H₂ + Br₂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HI: decompose readily when heated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2HI </a:t>
            </a: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⇌ H₂ + I₂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DCF84E-8DD5-009D-8A82-E42E57437357}"/>
              </a:ext>
            </a:extLst>
          </p:cNvPr>
          <p:cNvSpPr txBox="1"/>
          <p:nvPr/>
        </p:nvSpPr>
        <p:spPr>
          <a:xfrm>
            <a:off x="6313970" y="4020948"/>
            <a:ext cx="572197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500" dirty="0">
                <a:effectLst/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Give two reason to explain why HI decomposes at a lower temperature than HBr</a:t>
            </a:r>
            <a:endParaRPr lang="en-US" sz="15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C55CFB2-64EE-6AF6-D85C-6254B27F5DB8}"/>
              </a:ext>
            </a:extLst>
          </p:cNvPr>
          <p:cNvSpPr txBox="1"/>
          <p:nvPr/>
        </p:nvSpPr>
        <p:spPr>
          <a:xfrm>
            <a:off x="6314800" y="4686952"/>
            <a:ext cx="572114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Since I is a larger atom than Br, the valence p orbital of the </a:t>
            </a:r>
            <a:b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 is more diffuse. This results in less effective orbital overlap between the 1s orbital of H and the valence p orbital of I and hence the H─I bond is weaker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electronegativity difference between H and I is less than between H and Br, as a result the H─I bond is less polar and hence the H─I bond is weaker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8FDBBD-DE2D-F984-3747-46BAF3E33A01}"/>
              </a:ext>
            </a:extLst>
          </p:cNvPr>
          <p:cNvSpPr txBox="1"/>
          <p:nvPr/>
        </p:nvSpPr>
        <p:spPr>
          <a:xfrm>
            <a:off x="673014" y="2560405"/>
            <a:ext cx="395798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Mg</a:t>
            </a:r>
            <a:r>
              <a:rPr lang="en-US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²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⁺ has a smaller cation radii, hence a higher charge density and greater 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polarising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power than Ba</a:t>
            </a:r>
            <a:r>
              <a:rPr lang="en-US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²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⁺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Mg</a:t>
            </a:r>
            <a:r>
              <a:rPr lang="en-US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²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⁺ 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polarises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the electron cloud of CO</a:t>
            </a:r>
            <a:r>
              <a:rPr lang="en-US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₃²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⁻ to a greater extent and the covalent bonds in CO</a:t>
            </a:r>
            <a:r>
              <a:rPr lang="en-US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₃²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⁻ are weakened to a greater extent. As a result, less energy required to break the covalent bonds, hence </a:t>
            </a:r>
            <a:r>
              <a:rPr lang="en-US" sz="15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MgCO</a:t>
            </a:r>
            <a:r>
              <a:rPr lang="en-US" sz="1500" dirty="0">
                <a:solidFill>
                  <a:srgbClr val="2E3856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₃</a:t>
            </a:r>
            <a:r>
              <a:rPr lang="en-US" sz="15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decomposes at a lower temperature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D02A693-871D-357F-7E8D-32D3DC801D98}"/>
              </a:ext>
            </a:extLst>
          </p:cNvPr>
          <p:cNvCxnSpPr/>
          <p:nvPr/>
        </p:nvCxnSpPr>
        <p:spPr>
          <a:xfrm>
            <a:off x="5388077" y="766916"/>
            <a:ext cx="0" cy="5604387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59C6ADC-CA26-B804-7CBF-139A60704AA2}"/>
              </a:ext>
            </a:extLst>
          </p:cNvPr>
          <p:cNvSpPr txBox="1"/>
          <p:nvPr/>
        </p:nvSpPr>
        <p:spPr>
          <a:xfrm>
            <a:off x="10166556" y="89263"/>
            <a:ext cx="20254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[Q4 Ans]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C63373-9396-27DC-3580-D4D6D3024426}"/>
              </a:ext>
            </a:extLst>
          </p:cNvPr>
          <p:cNvSpPr txBox="1"/>
          <p:nvPr/>
        </p:nvSpPr>
        <p:spPr>
          <a:xfrm>
            <a:off x="5567072" y="1536680"/>
            <a:ext cx="806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[A]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31397F-50FE-1512-D2A4-3E9210DAB5BD}"/>
              </a:ext>
            </a:extLst>
          </p:cNvPr>
          <p:cNvSpPr txBox="1"/>
          <p:nvPr/>
        </p:nvSpPr>
        <p:spPr>
          <a:xfrm>
            <a:off x="5596568" y="3955370"/>
            <a:ext cx="8062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[B]</a:t>
            </a:r>
          </a:p>
        </p:txBody>
      </p:sp>
    </p:spTree>
    <p:extLst>
      <p:ext uri="{BB962C8B-B14F-4D97-AF65-F5344CB8AC3E}">
        <p14:creationId xmlns:p14="http://schemas.microsoft.com/office/powerpoint/2010/main" val="828612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CCA48-91A3-A19F-3493-2B8A173B1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10A3A7D-1CC2-9962-5848-68E8C0D78737}"/>
              </a:ext>
            </a:extLst>
          </p:cNvPr>
          <p:cNvSpPr txBox="1"/>
          <p:nvPr/>
        </p:nvSpPr>
        <p:spPr>
          <a:xfrm>
            <a:off x="673013" y="1165651"/>
            <a:ext cx="455774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Sketch a graph to show the variation in melting point of the oxides in the third period, from Na to 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9A8AB2-8B18-0B82-4FE4-B2189985A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67" y="2417818"/>
            <a:ext cx="4045815" cy="300558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09CEA3-EB4A-AD38-CCAB-A089C227F761}"/>
              </a:ext>
            </a:extLst>
          </p:cNvPr>
          <p:cNvCxnSpPr/>
          <p:nvPr/>
        </p:nvCxnSpPr>
        <p:spPr>
          <a:xfrm>
            <a:off x="5388077" y="766916"/>
            <a:ext cx="0" cy="5604387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9A0D4E6-CF85-46EB-68B4-418D885502C3}"/>
              </a:ext>
            </a:extLst>
          </p:cNvPr>
          <p:cNvSpPr txBox="1"/>
          <p:nvPr/>
        </p:nvSpPr>
        <p:spPr>
          <a:xfrm>
            <a:off x="10166556" y="89263"/>
            <a:ext cx="20254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[Q5 Ans]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3D1412-E8DD-7CD3-DF9C-9DA964200365}"/>
              </a:ext>
            </a:extLst>
          </p:cNvPr>
          <p:cNvSpPr txBox="1"/>
          <p:nvPr/>
        </p:nvSpPr>
        <p:spPr>
          <a:xfrm>
            <a:off x="5925551" y="1165651"/>
            <a:ext cx="502758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Sketch a graph to show the variation in boiling point of the chlorides in the third period, from Na to P.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EC5E46-DE33-4BE3-5F5B-F4DE2DBB5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551" y="2211263"/>
            <a:ext cx="4306582" cy="307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56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081bad1-c399-41c1-979d-71f0e3369cf2"/>
    <Summary xmlns="b1ed4896-73af-43c1-9012-9ecb2c96011c" xsi:nil="true"/>
    <n0fb58c3706b4169bdb74337c0b76ffd xmlns="b1ed4896-73af-43c1-9012-9ecb2c96011c">
      <Terms xmlns="http://schemas.microsoft.com/office/infopath/2007/PartnerControls"/>
    </n0fb58c3706b4169bdb74337c0b76ffd>
    <_dlc_DocId xmlns="9081bad1-c399-41c1-979d-71f0e3369cf2">2C5XP6HFN2W6-453-116083</_dlc_DocId>
    <_dlc_DocIdUrl xmlns="9081bad1-c399-41c1-979d-71f0e3369cf2">
      <Url>https://sophia.ri.edu.sg/Chemistry/_layouts/DocIdRedir.aspx?ID=2C5XP6HFN2W6-453-116083</Url>
      <Description>2C5XP6HFN2W6-453-116083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5909136E76DD4094C199BA420D5216" ma:contentTypeVersion="5" ma:contentTypeDescription="Create a new document." ma:contentTypeScope="" ma:versionID="b02ad82659801f2e5229a86c96ef7420">
  <xsd:schema xmlns:xsd="http://www.w3.org/2001/XMLSchema" xmlns:xs="http://www.w3.org/2001/XMLSchema" xmlns:p="http://schemas.microsoft.com/office/2006/metadata/properties" xmlns:ns2="9081bad1-c399-41c1-979d-71f0e3369cf2" xmlns:ns3="b1ed4896-73af-43c1-9012-9ecb2c96011c" targetNamespace="http://schemas.microsoft.com/office/2006/metadata/properties" ma:root="true" ma:fieldsID="d5f8bb82ee2c6d1bab020738af6c5308" ns2:_="" ns3:_="">
    <xsd:import namespace="9081bad1-c399-41c1-979d-71f0e3369cf2"/>
    <xsd:import namespace="b1ed4896-73af-43c1-9012-9ecb2c96011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n0fb58c3706b4169bdb74337c0b76ffd" minOccurs="0"/>
                <xsd:element ref="ns2:TaxCatchAll" minOccurs="0"/>
                <xsd:element ref="ns3:Summar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81bad1-c399-41c1-979d-71f0e3369cf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3" nillable="true" ma:displayName="Taxonomy Catch All Column" ma:hidden="true" ma:list="{bbeacd7e-5d69-49d2-8b3d-c5dff6a52504}" ma:internalName="TaxCatchAll" ma:showField="CatchAllData" ma:web="9081bad1-c399-41c1-979d-71f0e3369c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d4896-73af-43c1-9012-9ecb2c96011c" elementFormDefault="qualified">
    <xsd:import namespace="http://schemas.microsoft.com/office/2006/documentManagement/types"/>
    <xsd:import namespace="http://schemas.microsoft.com/office/infopath/2007/PartnerControls"/>
    <xsd:element name="n0fb58c3706b4169bdb74337c0b76ffd" ma:index="12" nillable="true" ma:taxonomy="true" ma:internalName="n0fb58c3706b4169bdb74337c0b76ffd" ma:taxonomyFieldName="Taxonomy" ma:displayName="Taxonomy" ma:readOnly="false" ma:default="" ma:fieldId="{70fb58c3-706b-4169-bdb7-4337c0b76ffd}" ma:taxonomyMulti="true" ma:sspId="1a49a4b3-2cb5-4ce8-b80f-be06f9598a4d" ma:termSetId="f2d918d1-859b-4842-b32f-9d2eef89366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ummary" ma:index="14" nillable="true" ma:displayName="Summary" ma:internalName="Summary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911EB9-34F7-4A03-9B8F-3B598E1F499F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7173B2F3-698E-4C1B-A307-F5061CDF516D}">
  <ds:schemaRefs>
    <ds:schemaRef ds:uri="http://schemas.microsoft.com/office/2006/metadata/properties"/>
    <ds:schemaRef ds:uri="http://schemas.microsoft.com/office/infopath/2007/PartnerControls"/>
    <ds:schemaRef ds:uri="9081bad1-c399-41c1-979d-71f0e3369cf2"/>
    <ds:schemaRef ds:uri="b1ed4896-73af-43c1-9012-9ecb2c96011c"/>
  </ds:schemaRefs>
</ds:datastoreItem>
</file>

<file path=customXml/itemProps3.xml><?xml version="1.0" encoding="utf-8"?>
<ds:datastoreItem xmlns:ds="http://schemas.openxmlformats.org/officeDocument/2006/customXml" ds:itemID="{E87D86A9-44DB-44F5-A09E-9CAB2160B94F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DF26EBA3-51F2-47C8-BF73-D6962E65DD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81bad1-c399-41c1-979d-71f0e3369cf2"/>
    <ds:schemaRef ds:uri="b1ed4896-73af-43c1-9012-9ecb2c9601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1032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Lim Boon Kiat</dc:creator>
  <cp:lastModifiedBy>Gabriel Lim Boon Kiat</cp:lastModifiedBy>
  <cp:revision>8</cp:revision>
  <dcterms:created xsi:type="dcterms:W3CDTF">2026-01-09T14:19:37Z</dcterms:created>
  <dcterms:modified xsi:type="dcterms:W3CDTF">2026-05-23T07:48:07Z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0x010100525909136E76DD4094C199BA420D5216</vt:lpwstr>
  </property>
  <property fmtid="{D5CDD505-2E9C-101B-9397-08002B2CF9AE}" pid="3" name="_dlc_DocIdItemGuid">
    <vt:lpwstr>92a40ec8-66c5-41fd-95f5-bcd097202261</vt:lpwstr>
  </property>
  <property fmtid="{D5CDD505-2E9C-101B-9397-08002B2CF9AE}" pid="4" name="Taxonomy">
    <vt:lpwstr/>
  </property>
</Properties>
</file>